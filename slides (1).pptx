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33F43D-50A2-41EB-AF13-DF30C2DDD65B}" v="69" vWet="74" dt="2026-08-01T12:58:14.8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91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1CB03-9A97-49FC-A767-23028B8B28C5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A9D513-54EA-46DD-9B10-931253C957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136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A9D513-54EA-46DD-9B10-931253C9570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3102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A9D513-54EA-46DD-9B10-931253C95700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851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A9D513-54EA-46DD-9B10-931253C95700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715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890A15E-985D-4AA8-A540-2A291D1CD36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D781F5F-14A5-409E-9634-CCAF17ECA54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AA3149C-A080-4EFE-B67A-2B907137FCF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26531EC-A1E2-4208-9A4D-97B7D75D4F8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C234F97-EC7B-4B10-993E-A13B0F6BB86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0DD3E15-234B-44F3-9FFA-CBDDA307A2A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A097327-B913-4099-B5FC-F494AF9E2FD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EA1CDF0-79E9-4705-A226-45705F9E3C9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59C6C4F-C0A8-464D-85ED-8F0AB1DFC76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8A8C65F-BC4C-45D6-9D9D-817F4EFD054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05D8ACF-03AD-49FD-BDF1-9136BEE7CD5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828800" y="2260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Team &amp; Solution Overview</a:t>
            </a:r>
            <a:br>
              <a:rPr sz="4400" dirty="0"/>
            </a:br>
            <a:endParaRPr lang="en-US" sz="4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TextBox 4"/>
          <p:cNvSpPr/>
          <p:nvPr/>
        </p:nvSpPr>
        <p:spPr>
          <a:xfrm>
            <a:off x="457200" y="990600"/>
            <a:ext cx="11277601" cy="65234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• Team Name: </a:t>
            </a:r>
            <a:r>
              <a:rPr lang="en-US" sz="2000" dirty="0">
                <a:solidFill>
                  <a:schemeClr val="dk1"/>
                </a:solidFill>
                <a:latin typeface="Calibri"/>
              </a:rPr>
              <a:t>5Gen data</a:t>
            </a:r>
          </a:p>
          <a:p>
            <a:pPr defTabSz="457200">
              <a:lnSpc>
                <a:spcPct val="100000"/>
              </a:lnSpc>
            </a:pPr>
            <a:endParaRPr lang="en-US" sz="20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• Members:</a:t>
            </a:r>
          </a:p>
          <a:p>
            <a:pPr defTabSz="457200">
              <a:lnSpc>
                <a:spcPct val="100000"/>
              </a:lnSpc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   </a:t>
            </a:r>
            <a:r>
              <a:rPr lang="en-US" sz="20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</a:rPr>
              <a:t>Aashiga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 GN </a:t>
            </a:r>
          </a:p>
          <a:p>
            <a:pPr defTabSz="457200">
              <a:lnSpc>
                <a:spcPct val="100000"/>
              </a:lnSpc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   Lakshmi B</a:t>
            </a:r>
          </a:p>
          <a:p>
            <a:pPr defTabSz="457200">
              <a:lnSpc>
                <a:spcPct val="100000"/>
              </a:lnSpc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   Pallavi V</a:t>
            </a:r>
          </a:p>
          <a:p>
            <a:pPr defTabSz="457200">
              <a:lnSpc>
                <a:spcPct val="100000"/>
              </a:lnSpc>
            </a:pP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• Challenge area</a:t>
            </a:r>
            <a:r>
              <a:rPr lang="en-US" sz="2000" dirty="0">
                <a:solidFill>
                  <a:schemeClr val="dk1"/>
                </a:solidFill>
              </a:rPr>
              <a:t>: Track 1 (Data Insights &amp; </a:t>
            </a:r>
            <a:r>
              <a:rPr lang="en-US" sz="2000" dirty="0" err="1">
                <a:solidFill>
                  <a:schemeClr val="dk1"/>
                </a:solidFill>
              </a:rPr>
              <a:t>Visualisation</a:t>
            </a:r>
            <a:r>
              <a:rPr lang="en-US" sz="2000" dirty="0">
                <a:solidFill>
                  <a:schemeClr val="dk1"/>
                </a:solidFill>
              </a:rPr>
              <a:t>) + Track 3 (Policy &amp; Intervention Design)</a:t>
            </a:r>
          </a:p>
          <a:p>
            <a:pPr defTabSz="457200"/>
            <a:endParaRPr lang="en-US" sz="20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• One-line solution: </a:t>
            </a:r>
            <a:r>
              <a:rPr lang="en-IN" sz="2000" dirty="0"/>
              <a:t>"We identify district-wise math competency gaps, </a:t>
            </a:r>
            <a:r>
              <a:rPr lang="en-IN" sz="2000" dirty="0" err="1"/>
              <a:t>analyze</a:t>
            </a:r>
            <a:r>
              <a:rPr lang="en-IN" sz="2000" dirty="0"/>
              <a:t> whether they are linked to socio-economic factors or instructional issues, and recommend targeted interventions.</a:t>
            </a:r>
          </a:p>
          <a:p>
            <a:pPr defTabSz="457200"/>
            <a:endParaRPr lang="en-US" sz="20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defTabSz="457200"/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Contact: </a:t>
            </a:r>
          </a:p>
          <a:p>
            <a:pPr defTabSz="457200">
              <a:lnSpc>
                <a:spcPct val="100000"/>
              </a:lnSpc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9994384131 </a:t>
            </a:r>
          </a:p>
          <a:p>
            <a:pPr defTabSz="457200">
              <a:lnSpc>
                <a:spcPct val="100000"/>
              </a:lnSpc>
            </a:pPr>
            <a:r>
              <a:rPr lang="en-US" sz="2000" dirty="0">
                <a:solidFill>
                  <a:schemeClr val="dk1"/>
                </a:solidFill>
                <a:latin typeface="Calibri"/>
              </a:rPr>
              <a:t>7483445972</a:t>
            </a:r>
          </a:p>
          <a:p>
            <a:pPr defTabSz="457200">
              <a:lnSpc>
                <a:spcPct val="100000"/>
              </a:lnSpc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9916435329</a:t>
            </a:r>
          </a:p>
          <a:p>
            <a:pPr defTabSz="457200">
              <a:lnSpc>
                <a:spcPct val="100000"/>
              </a:lnSpc>
            </a:pPr>
            <a:r>
              <a:rPr lang="en-US" sz="2000" dirty="0">
                <a:solidFill>
                  <a:schemeClr val="dk1"/>
                </a:solidFill>
                <a:latin typeface="Calibri"/>
              </a:rPr>
              <a:t>                   </a:t>
            </a:r>
            <a:endParaRPr lang="en-US" sz="20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defTabSz="457200">
              <a:lnSpc>
                <a:spcPct val="100000"/>
              </a:lnSpc>
            </a:pPr>
            <a:endParaRPr lang="en-US" sz="2000" dirty="0">
              <a:solidFill>
                <a:schemeClr val="dk1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defTabSz="457200">
              <a:lnSpc>
                <a:spcPct val="100000"/>
              </a:lnSpc>
            </a:pPr>
            <a:endParaRPr lang="en-US" sz="2000" dirty="0">
              <a:solidFill>
                <a:schemeClr val="dk1"/>
              </a:solidFill>
              <a:latin typeface="Calibri"/>
            </a:endParaRPr>
          </a:p>
          <a:p>
            <a:pPr defTabSz="457200">
              <a:lnSpc>
                <a:spcPct val="100000"/>
              </a:lnSpc>
            </a:pP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EvalFooter"/>
          <p:cNvSpPr txBox="1"/>
          <p:nvPr/>
        </p:nvSpPr>
        <p:spPr>
          <a:xfrm>
            <a:off x="457200" y="6217920"/>
            <a:ext cx="8229600" cy="24622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/>
            </a:pPr>
            <a:r>
              <a:rPr lang="en-US" sz="1000" dirty="0"/>
              <a:t>Evaluation: Depth of analysis | Policy relevance | Cross-dataset analysis | Innovation | Clarity of insights | Visualisation &amp;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828800" y="27864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Problem Statement</a:t>
            </a:r>
            <a:br>
              <a:rPr sz="4400" dirty="0"/>
            </a:br>
            <a:endParaRPr lang="en-US" sz="4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4"/>
          <p:cNvSpPr/>
          <p:nvPr/>
        </p:nvSpPr>
        <p:spPr>
          <a:xfrm>
            <a:off x="731520" y="1021080"/>
            <a:ext cx="1121664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lvl="0"/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• </a:t>
            </a: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Educational challenge: </a:t>
            </a:r>
            <a:r>
              <a:rPr lang="en-IN" sz="2000" dirty="0"/>
              <a:t>District-level average scores hide which mathematics competencies are weak and how learning gaps differ across districts. </a:t>
            </a:r>
          </a:p>
          <a:p>
            <a:pPr lvl="0"/>
            <a:r>
              <a:rPr lang="en-IN" sz="2000" dirty="0"/>
              <a:t>Uniform interventions fail to address district-specific learning needs. </a:t>
            </a:r>
          </a:p>
          <a:p>
            <a:pPr defTabSz="457200">
              <a:lnSpc>
                <a:spcPct val="100000"/>
              </a:lnSpc>
            </a:pP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0"/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• </a:t>
            </a: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Objectives: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IN" sz="2000" dirty="0"/>
              <a:t>Identify the weakest mathematics competencies across Karnataka. </a:t>
            </a:r>
          </a:p>
          <a:p>
            <a:pPr lvl="0"/>
            <a:r>
              <a:rPr lang="en-IN" sz="2000" dirty="0"/>
              <a:t>Measure district-wise learning imbalance using the Severity Gap. </a:t>
            </a:r>
          </a:p>
          <a:p>
            <a:pPr lvl="0"/>
            <a:r>
              <a:rPr lang="en-IN" sz="2000" dirty="0"/>
              <a:t>Examine the relationship between learning outcomes and female literacy. </a:t>
            </a:r>
          </a:p>
          <a:p>
            <a:pPr lvl="0"/>
            <a:r>
              <a:rPr lang="en-IN" sz="2000" dirty="0"/>
              <a:t>Recommend evidence-based district-specific interventions. </a:t>
            </a:r>
          </a:p>
          <a:p>
            <a:pPr defTabSz="457200">
              <a:lnSpc>
                <a:spcPct val="100000"/>
              </a:lnSpc>
            </a:pPr>
            <a:endParaRPr lang="en-IN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0"/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• </a:t>
            </a: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Key questions: </a:t>
            </a:r>
            <a:r>
              <a:rPr lang="en-IN" sz="2000" dirty="0"/>
              <a:t>Which mathematics competencies show the lowest performance? </a:t>
            </a:r>
          </a:p>
          <a:p>
            <a:pPr lvl="0"/>
            <a:r>
              <a:rPr lang="en-IN" sz="2000" dirty="0"/>
              <a:t>Which districts exhibit the largest competency imbalances? </a:t>
            </a:r>
          </a:p>
          <a:p>
            <a:pPr lvl="0"/>
            <a:r>
              <a:rPr lang="en-IN" sz="2000" dirty="0"/>
              <a:t>Is female literacy associated with learning performance? </a:t>
            </a:r>
          </a:p>
          <a:p>
            <a:pPr lvl="0"/>
            <a:r>
              <a:rPr lang="en-IN" sz="2000" dirty="0"/>
              <a:t>Which districts require competency-specific interventions?</a:t>
            </a:r>
          </a:p>
          <a:p>
            <a:pPr lvl="0"/>
            <a:endParaRPr lang="en-IN" sz="2000" dirty="0"/>
          </a:p>
          <a:p>
            <a:pPr lvl="0"/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• </a:t>
            </a: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Why it matters: </a:t>
            </a:r>
            <a:r>
              <a:rPr lang="en-IN" sz="2000" dirty="0"/>
              <a:t>Different districts face different learning challenges. </a:t>
            </a:r>
          </a:p>
          <a:p>
            <a:pPr lvl="0"/>
            <a:r>
              <a:rPr lang="en-IN" sz="2000" dirty="0"/>
              <a:t>Understanding both what students struggle with and where the largest learning imbalances exist enables targeted resource allocation, focused teacher support, and more effective interventions.</a:t>
            </a:r>
          </a:p>
          <a:p>
            <a:pPr defTabSz="457200">
              <a:lnSpc>
                <a:spcPct val="100000"/>
              </a:lnSpc>
            </a:pP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EvalFooter"/>
          <p:cNvSpPr txBox="1"/>
          <p:nvPr/>
        </p:nvSpPr>
        <p:spPr>
          <a:xfrm>
            <a:off x="457200" y="6217920"/>
            <a:ext cx="8229600" cy="24622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/>
            </a:pPr>
            <a:r>
              <a:rPr lang="en-US" sz="1000" dirty="0"/>
              <a:t>Evaluation: Depth of analysis | Policy relevance | Cross-dataset analysis | Innovation | Clarity of insights | Visualisation &amp;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828800" y="0"/>
            <a:ext cx="8229600" cy="1127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Dataset Understanding</a:t>
            </a:r>
            <a:br>
              <a:rPr sz="4400" dirty="0"/>
            </a:br>
            <a:endParaRPr lang="en-US" sz="4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TextBox 4"/>
          <p:cNvSpPr/>
          <p:nvPr/>
        </p:nvSpPr>
        <p:spPr>
          <a:xfrm>
            <a:off x="457200" y="563880"/>
            <a:ext cx="11353800" cy="689274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lvl="0"/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• </a:t>
            </a: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Dataset summary: </a:t>
            </a:r>
            <a:r>
              <a:rPr lang="en-IN" sz="2000" dirty="0"/>
              <a:t>312,702 students from Grades 4–6 </a:t>
            </a:r>
          </a:p>
          <a:p>
            <a:pPr lvl="0"/>
            <a:r>
              <a:rPr lang="en-IN" sz="2000" dirty="0"/>
              <a:t>Covers 30 districts across Karnataka </a:t>
            </a:r>
          </a:p>
          <a:p>
            <a:pPr lvl="0"/>
            <a:r>
              <a:rPr lang="en-IN" sz="2000" dirty="0"/>
              <a:t>Assessment data for 2022–23 </a:t>
            </a:r>
          </a:p>
          <a:p>
            <a:pPr lvl="0"/>
            <a:r>
              <a:rPr lang="en-IN" sz="2000" dirty="0"/>
              <a:t>Responses to 20 mathematics questions (Q1–Q20) </a:t>
            </a:r>
          </a:p>
          <a:p>
            <a:pPr lvl="0"/>
            <a:endParaRPr lang="en-IN" sz="2000" dirty="0"/>
          </a:p>
          <a:p>
            <a:pPr lvl="0"/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• Variables: </a:t>
            </a:r>
            <a:r>
              <a:rPr lang="en-IN" sz="2000" dirty="0"/>
              <a:t>Student: Grade, Gender </a:t>
            </a:r>
          </a:p>
          <a:p>
            <a:pPr lvl="0"/>
            <a:r>
              <a:rPr lang="en-IN" sz="2000" dirty="0"/>
              <a:t>Location: District, Block, Cluster, Gram Panchayat (GP) </a:t>
            </a:r>
          </a:p>
          <a:p>
            <a:pPr lvl="0"/>
            <a:r>
              <a:rPr lang="en-IN" sz="2000" dirty="0"/>
              <a:t>Assessment: Q1–Q20 </a:t>
            </a:r>
            <a:r>
              <a:rPr lang="en-IN" sz="2000" i="1" dirty="0"/>
              <a:t>(1 = Correct, 0 = Incorrect)</a:t>
            </a:r>
            <a:r>
              <a:rPr lang="en-IN" sz="2000" dirty="0"/>
              <a:t> </a:t>
            </a:r>
          </a:p>
          <a:p>
            <a:pPr lvl="0"/>
            <a:r>
              <a:rPr lang="en-IN" sz="2000" dirty="0"/>
              <a:t>Socio-economic: Female Literacy (NFHS-5) </a:t>
            </a:r>
          </a:p>
          <a:p>
            <a:pPr lvl="0"/>
            <a:endParaRPr lang="en-IN" sz="2000" dirty="0"/>
          </a:p>
          <a:p>
            <a:pPr lvl="0"/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• </a:t>
            </a: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Cleaning</a:t>
            </a:r>
            <a:r>
              <a:rPr lang="en-US" sz="200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r>
              <a:rPr lang="en-IN" dirty="0"/>
              <a:t>Dataset pre-cleaned by Akshara Foundation </a:t>
            </a:r>
          </a:p>
          <a:p>
            <a:pPr lvl="0"/>
            <a:r>
              <a:rPr lang="en-IN" dirty="0"/>
              <a:t>Verified: </a:t>
            </a:r>
          </a:p>
          <a:p>
            <a:pPr lvl="1"/>
            <a:r>
              <a:rPr lang="en-IN" dirty="0"/>
              <a:t>No missing values </a:t>
            </a:r>
          </a:p>
          <a:p>
            <a:pPr lvl="1"/>
            <a:r>
              <a:rPr lang="en-IN" dirty="0"/>
              <a:t>No duplicate records </a:t>
            </a:r>
          </a:p>
          <a:p>
            <a:pPr lvl="1"/>
            <a:r>
              <a:rPr lang="en-IN" dirty="0"/>
              <a:t>Consistent district names </a:t>
            </a:r>
          </a:p>
          <a:p>
            <a:pPr lvl="0"/>
            <a:r>
              <a:rPr lang="en-IN" dirty="0"/>
              <a:t>Mapped Q1–Q20 into 9 mathematics competency groups for analysis</a:t>
            </a:r>
          </a:p>
          <a:p>
            <a:pPr defTabSz="457200">
              <a:lnSpc>
                <a:spcPct val="100000"/>
              </a:lnSpc>
            </a:pPr>
            <a:endParaRPr lang="en-IN" sz="20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0"/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• </a:t>
            </a: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Assumptions:</a:t>
            </a:r>
            <a:r>
              <a:rPr lang="en-IN" dirty="0"/>
              <a:t> The competency mapping accurately represents the assessed mathematical skills. </a:t>
            </a:r>
          </a:p>
          <a:p>
            <a:pPr lvl="0"/>
            <a:r>
              <a:rPr lang="en-IN" dirty="0"/>
              <a:t>District-level competency accuracy reflects overall district learning performance. </a:t>
            </a:r>
          </a:p>
          <a:p>
            <a:pPr lvl="0"/>
            <a:r>
              <a:rPr lang="en-IN" dirty="0"/>
              <a:t>The Severity Gap measures the difference between the strongest and weakest competency within a district. </a:t>
            </a:r>
          </a:p>
          <a:p>
            <a:pPr lvl="0"/>
            <a:r>
              <a:rPr lang="en-IN" dirty="0"/>
              <a:t> </a:t>
            </a:r>
          </a:p>
          <a:p>
            <a:pPr lvl="0"/>
            <a:r>
              <a:rPr lang="en-IN" dirty="0"/>
              <a:t>. </a:t>
            </a:r>
          </a:p>
          <a:p>
            <a:pPr defTabSz="457200">
              <a:lnSpc>
                <a:spcPct val="100000"/>
              </a:lnSpc>
            </a:pPr>
            <a:endParaRPr lang="en-IN" sz="20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EvalFooter"/>
          <p:cNvSpPr txBox="1"/>
          <p:nvPr/>
        </p:nvSpPr>
        <p:spPr>
          <a:xfrm>
            <a:off x="457200" y="6611779"/>
            <a:ext cx="8229600" cy="24622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/>
            </a:pPr>
            <a:r>
              <a:rPr lang="en-US" sz="1000" dirty="0"/>
              <a:t>Evaluation: Depth of analysis | Policy relevance | Cross-dataset analysis | Innovation | Clarity of insights | Visualisation &amp;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828800" y="0"/>
            <a:ext cx="8229240" cy="120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Analytical Approach</a:t>
            </a:r>
            <a:br>
              <a:rPr sz="4400" dirty="0"/>
            </a:br>
            <a:endParaRPr lang="en-US" sz="4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4"/>
          <p:cNvSpPr/>
          <p:nvPr/>
        </p:nvSpPr>
        <p:spPr>
          <a:xfrm>
            <a:off x="259080" y="701040"/>
            <a:ext cx="11612880" cy="58770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/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• Workflow: </a:t>
            </a:r>
            <a:r>
              <a:rPr lang="en-IN" sz="2000" dirty="0"/>
              <a:t>Load Assessment Data → Map Q1–Q20 to 9 Competency Groups → Calculate Competency-wise Accuracy → Compute District-wise Severity Gap → Merge with Female Literacy Data → Visualize Results → Generate District-specific Recommendations.</a:t>
            </a:r>
          </a:p>
          <a:p>
            <a:pPr defTabSz="457200"/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0"/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• </a:t>
            </a: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Methods:</a:t>
            </a:r>
            <a:r>
              <a:rPr lang="en-IN" sz="2000" b="1" dirty="0"/>
              <a:t> Descriptive Analysis:</a:t>
            </a:r>
            <a:r>
              <a:rPr lang="en-IN" sz="2000" dirty="0"/>
              <a:t> Measured average accuracy for each competency group. </a:t>
            </a:r>
          </a:p>
          <a:p>
            <a:pPr lvl="0"/>
            <a:r>
              <a:rPr lang="en-IN" sz="2000" b="1" dirty="0"/>
              <a:t>District-wise Aggregation:</a:t>
            </a:r>
            <a:r>
              <a:rPr lang="en-IN" sz="2000" dirty="0"/>
              <a:t> Calculated competency performance for every district. </a:t>
            </a:r>
          </a:p>
          <a:p>
            <a:pPr lvl="0"/>
            <a:r>
              <a:rPr lang="en-IN" sz="2000" b="1" dirty="0"/>
              <a:t>Severity Gap Analysis:</a:t>
            </a:r>
            <a:r>
              <a:rPr lang="en-IN" sz="2000" dirty="0"/>
              <a:t> Measured the difference between the strongest and weakest competency within each district. </a:t>
            </a:r>
          </a:p>
          <a:p>
            <a:pPr lvl="0"/>
            <a:r>
              <a:rPr lang="en-IN" sz="2000" b="1" dirty="0"/>
              <a:t>Correlation Analysis:</a:t>
            </a:r>
            <a:r>
              <a:rPr lang="en-IN" sz="2000" dirty="0"/>
              <a:t> Examined the relationship between learning performance and female literacy.</a:t>
            </a:r>
          </a:p>
          <a:p>
            <a:pPr defTabSz="457200">
              <a:lnSpc>
                <a:spcPct val="100000"/>
              </a:lnSpc>
            </a:pPr>
            <a:endParaRPr lang="en-IN" sz="20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0"/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• Models: </a:t>
            </a:r>
            <a:r>
              <a:rPr lang="en-IN" dirty="0"/>
              <a:t>No predictive machine learning model was used. </a:t>
            </a:r>
          </a:p>
          <a:p>
            <a:pPr lvl="0"/>
            <a:r>
              <a:rPr lang="en-IN" dirty="0"/>
              <a:t>The project applies diagnostic analytics to identify competency gaps, district-level learning imbalances, and evidence-based intervention needs.</a:t>
            </a:r>
          </a:p>
          <a:p>
            <a:pPr defTabSz="457200">
              <a:lnSpc>
                <a:spcPct val="100000"/>
              </a:lnSpc>
            </a:pPr>
            <a:endParaRPr lang="en-IN" sz="20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0"/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• Validation:</a:t>
            </a:r>
            <a:r>
              <a:rPr lang="en-IN" sz="2000" dirty="0"/>
              <a:t> Verified that the dataset contained no missing values or duplicate records. </a:t>
            </a:r>
          </a:p>
          <a:p>
            <a:pPr lvl="0"/>
            <a:r>
              <a:rPr lang="en-IN" sz="2000" dirty="0"/>
              <a:t>Checked district name consistency using the official crosswalk mapping. </a:t>
            </a:r>
          </a:p>
          <a:p>
            <a:pPr lvl="0"/>
            <a:r>
              <a:rPr lang="en-IN" sz="2000" dirty="0"/>
              <a:t>Validated competency rankings and severity gap calculations against district-level results. </a:t>
            </a:r>
          </a:p>
          <a:p>
            <a:pPr lvl="0"/>
            <a:r>
              <a:rPr lang="en-IN" sz="2000" dirty="0"/>
              <a:t>Compared learning patterns with female literacy data to support interpretation. </a:t>
            </a:r>
          </a:p>
          <a:p>
            <a:pPr defTabSz="457200">
              <a:lnSpc>
                <a:spcPct val="100000"/>
              </a:lnSpc>
            </a:pPr>
            <a:endParaRPr lang="en-IN" sz="20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EvalFooter"/>
          <p:cNvSpPr txBox="1"/>
          <p:nvPr/>
        </p:nvSpPr>
        <p:spPr>
          <a:xfrm>
            <a:off x="472440" y="6611779"/>
            <a:ext cx="8229600" cy="24622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/>
            </a:pPr>
            <a:r>
              <a:rPr lang="en-US" sz="1000" dirty="0"/>
              <a:t>Evaluation: Depth of analysis | Policy relevance | Cross-dataset analysis | Innovation | Clarity of insights | Visualisation &amp;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828800" y="2260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Key Insight 1</a:t>
            </a:r>
            <a:br>
              <a:rPr sz="4400"/>
            </a:b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4"/>
          <p:cNvSpPr/>
          <p:nvPr/>
        </p:nvSpPr>
        <p:spPr>
          <a:xfrm>
            <a:off x="731520" y="1097280"/>
            <a:ext cx="11109960" cy="544619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lvl="0"/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• Finding: </a:t>
            </a:r>
            <a:r>
              <a:rPr lang="en-IN" sz="2000" dirty="0"/>
              <a:t>Measurement, Division, and Place Value are the dominant weakest competency groups across Karnataka districts. </a:t>
            </a:r>
          </a:p>
          <a:p>
            <a:pPr lvl="0"/>
            <a:r>
              <a:rPr lang="en-IN" sz="2000" dirty="0"/>
              <a:t>High-severity districts such as Kodagu, </a:t>
            </a:r>
            <a:r>
              <a:rPr lang="en-IN" sz="2000" dirty="0" err="1"/>
              <a:t>Mandya</a:t>
            </a:r>
            <a:r>
              <a:rPr lang="en-IN" sz="2000" dirty="0"/>
              <a:t>, </a:t>
            </a:r>
            <a:r>
              <a:rPr lang="en-IN" sz="2000" dirty="0" err="1"/>
              <a:t>Chamarajanagara</a:t>
            </a:r>
            <a:r>
              <a:rPr lang="en-IN" sz="2000" dirty="0"/>
              <a:t>, Raichur, and </a:t>
            </a:r>
            <a:r>
              <a:rPr lang="en-IN" sz="2000" dirty="0" err="1"/>
              <a:t>Chitradurga</a:t>
            </a:r>
            <a:r>
              <a:rPr lang="en-IN" sz="2000" dirty="0"/>
              <a:t> show the largest competency imbalances, with Measurement being the most common weakest competency. </a:t>
            </a:r>
          </a:p>
          <a:p>
            <a:pPr lvl="0"/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• Evidence: </a:t>
            </a:r>
            <a:r>
              <a:rPr lang="en-IN" dirty="0"/>
              <a:t>The District Competency Imbalance chart ranks districts by Severity Gap (difference between strongest and weakest competency). </a:t>
            </a:r>
          </a:p>
          <a:p>
            <a:pPr lvl="0"/>
            <a:r>
              <a:rPr lang="en-IN" dirty="0"/>
              <a:t>Bar </a:t>
            </a:r>
            <a:r>
              <a:rPr lang="en-IN" dirty="0" err="1"/>
              <a:t>colors</a:t>
            </a:r>
            <a:r>
              <a:rPr lang="en-IN" dirty="0"/>
              <a:t> identify the weakest competency in each district: </a:t>
            </a:r>
          </a:p>
          <a:p>
            <a:pPr lvl="1"/>
            <a:r>
              <a:rPr lang="en-IN" dirty="0"/>
              <a:t>🟧 Measurement is the weakest competency in the majority of high-severity districts. </a:t>
            </a:r>
          </a:p>
          <a:p>
            <a:pPr lvl="1"/>
            <a:r>
              <a:rPr lang="en-IN" dirty="0"/>
              <a:t>🟩 Division is the weakest in districts such as Kodagu and </a:t>
            </a:r>
            <a:r>
              <a:rPr lang="en-IN" dirty="0" err="1"/>
              <a:t>Mandya</a:t>
            </a:r>
            <a:r>
              <a:rPr lang="en-IN" dirty="0"/>
              <a:t>. </a:t>
            </a:r>
          </a:p>
          <a:p>
            <a:pPr lvl="1"/>
            <a:r>
              <a:rPr lang="en-IN" dirty="0"/>
              <a:t>🟦 Place Value </a:t>
            </a:r>
          </a:p>
          <a:p>
            <a:pPr lvl="1"/>
            <a:r>
              <a:rPr lang="en-IN" dirty="0"/>
              <a:t>🟪 Multiplication appear in fewer districts. </a:t>
            </a:r>
          </a:p>
          <a:p>
            <a:pPr lvl="1"/>
            <a:endParaRPr lang="en-IN" sz="2000" dirty="0"/>
          </a:p>
          <a:p>
            <a:pPr lvl="0"/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• Interpretation: </a:t>
            </a:r>
            <a:r>
              <a:rPr lang="en-IN" sz="2000" dirty="0"/>
              <a:t>Learning gaps are not uniform across districts—they are concentrated in specific competencies. </a:t>
            </a:r>
          </a:p>
          <a:p>
            <a:pPr lvl="0"/>
            <a:r>
              <a:rPr lang="en-IN" sz="2000" dirty="0"/>
              <a:t>Districts with larger severity gaps (≈20–21 percentage points) require targeted competency-based interventions, while districts with smaller gaps (≈10–15 percentage points) exhibit more balanced learning outcomes. </a:t>
            </a:r>
          </a:p>
          <a:p>
            <a:pPr defTabSz="457200">
              <a:lnSpc>
                <a:spcPct val="100000"/>
              </a:lnSpc>
            </a:pPr>
            <a:endParaRPr lang="en-IN" sz="20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EvalFooter"/>
          <p:cNvSpPr txBox="1"/>
          <p:nvPr/>
        </p:nvSpPr>
        <p:spPr>
          <a:xfrm>
            <a:off x="457200" y="6217920"/>
            <a:ext cx="8229600" cy="24622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/>
            </a:pPr>
            <a:r>
              <a:rPr lang="en-US" sz="1000" dirty="0"/>
              <a:t>Evaluation: Depth of analysis | Policy relevance | Cross-dataset analysis | Innovation | Clarity of insights | Visualisation &amp;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828800" y="2260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Key Insight 2</a:t>
            </a:r>
            <a:br>
              <a:rPr sz="4400"/>
            </a:b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4"/>
          <p:cNvSpPr/>
          <p:nvPr/>
        </p:nvSpPr>
        <p:spPr>
          <a:xfrm>
            <a:off x="457201" y="1097280"/>
            <a:ext cx="11369040" cy="52923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lvl="0"/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• </a:t>
            </a: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Finding: </a:t>
            </a:r>
            <a:r>
              <a:rPr lang="en-IN" sz="2000" dirty="0"/>
              <a:t>Measurement (49.7%), Place Value (50.3%), and Division (51.1%) are the weakest mathematics competency groups across Karnataka. </a:t>
            </a:r>
          </a:p>
          <a:p>
            <a:pPr lvl="0"/>
            <a:r>
              <a:rPr lang="en-IN" sz="2000" dirty="0"/>
              <a:t>In contrast, Number Sense (64.7%) and Addition (63.9%) show the highest student accuracy. </a:t>
            </a:r>
          </a:p>
          <a:p>
            <a:pPr defTabSz="457200">
              <a:lnSpc>
                <a:spcPct val="100000"/>
              </a:lnSpc>
            </a:pPr>
            <a:endParaRPr lang="en-IN" sz="20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0"/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• Evidence: </a:t>
            </a:r>
            <a:r>
              <a:rPr lang="en-IN" dirty="0"/>
              <a:t>The Statewide Accuracy by Competency Group chart shows the average accuracy for each of the nine competency groups. </a:t>
            </a:r>
          </a:p>
          <a:p>
            <a:pPr lvl="0"/>
            <a:r>
              <a:rPr lang="en-IN" dirty="0"/>
              <a:t>The three lowest-performing competencies are: </a:t>
            </a:r>
          </a:p>
          <a:p>
            <a:pPr lvl="1"/>
            <a:r>
              <a:rPr lang="en-IN" dirty="0"/>
              <a:t>Measurement – 49.7% </a:t>
            </a:r>
          </a:p>
          <a:p>
            <a:pPr lvl="1"/>
            <a:r>
              <a:rPr lang="en-IN" dirty="0"/>
              <a:t>Place Value – 50.3% </a:t>
            </a:r>
          </a:p>
          <a:p>
            <a:pPr lvl="1"/>
            <a:r>
              <a:rPr lang="en-IN" dirty="0"/>
              <a:t>Division – 51.1% </a:t>
            </a:r>
          </a:p>
          <a:p>
            <a:pPr lvl="0"/>
            <a:r>
              <a:rPr lang="en-IN" dirty="0"/>
              <a:t>The highest-performing competencies are: </a:t>
            </a:r>
          </a:p>
          <a:p>
            <a:pPr lvl="1"/>
            <a:r>
              <a:rPr lang="en-IN" dirty="0"/>
              <a:t>Number Sense – 64.7% </a:t>
            </a:r>
          </a:p>
          <a:p>
            <a:pPr lvl="1"/>
            <a:r>
              <a:rPr lang="en-IN" dirty="0"/>
              <a:t>Addition – 63.9%</a:t>
            </a:r>
          </a:p>
          <a:p>
            <a:pPr lvl="0"/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• Interpretations: </a:t>
            </a:r>
            <a:r>
              <a:rPr lang="en-IN" dirty="0"/>
              <a:t>Students demonstrate stronger performance in basic number concepts but face greater difficulty with Measurement, Place Value, and Division. </a:t>
            </a:r>
          </a:p>
          <a:p>
            <a:pPr lvl="0"/>
            <a:r>
              <a:rPr lang="en-IN" dirty="0"/>
              <a:t>These foundational skills should be prioritized through competency-based teacher training and remedial learning programs to improve mathematics outcomes across the state. </a:t>
            </a:r>
          </a:p>
          <a:p>
            <a:pPr defTabSz="457200">
              <a:lnSpc>
                <a:spcPct val="100000"/>
              </a:lnSpc>
            </a:pPr>
            <a:endParaRPr lang="en-IN" sz="20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EvalFooter"/>
          <p:cNvSpPr txBox="1"/>
          <p:nvPr/>
        </p:nvSpPr>
        <p:spPr>
          <a:xfrm>
            <a:off x="457200" y="6217920"/>
            <a:ext cx="8229600" cy="24622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/>
            </a:pPr>
            <a:r>
              <a:rPr lang="en-US" sz="1000" dirty="0"/>
              <a:t>Evaluation: Depth of analysis | Policy relevance | Cross-dataset analysis | Innovation | Clarity of insights | Visualisation &amp;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798320" y="0"/>
            <a:ext cx="8085909" cy="1001486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Predictive / Diagnostic Analysis</a:t>
            </a:r>
            <a:br>
              <a:rPr sz="4400" dirty="0"/>
            </a:br>
            <a:endParaRPr lang="en-US" sz="4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4"/>
          <p:cNvSpPr/>
          <p:nvPr/>
        </p:nvSpPr>
        <p:spPr>
          <a:xfrm>
            <a:off x="304800" y="386263"/>
            <a:ext cx="11887200" cy="67388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lvl="0"/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• Model: </a:t>
            </a:r>
            <a:r>
              <a:rPr lang="en-IN" dirty="0"/>
              <a:t>Districts are </a:t>
            </a:r>
            <a:r>
              <a:rPr lang="en-IN" dirty="0" err="1"/>
              <a:t>analyzed</a:t>
            </a:r>
            <a:r>
              <a:rPr lang="en-IN" dirty="0"/>
              <a:t> using: </a:t>
            </a:r>
          </a:p>
          <a:p>
            <a:pPr lvl="1"/>
            <a:r>
              <a:rPr lang="en-IN" dirty="0"/>
              <a:t>Competency accuracy </a:t>
            </a:r>
          </a:p>
          <a:p>
            <a:pPr lvl="1"/>
            <a:r>
              <a:rPr lang="en-IN" dirty="0"/>
              <a:t>Severity Gap </a:t>
            </a:r>
          </a:p>
          <a:p>
            <a:pPr lvl="1"/>
            <a:r>
              <a:rPr lang="en-IN" dirty="0"/>
              <a:t>Female literacy (NFHS-5) </a:t>
            </a:r>
          </a:p>
          <a:p>
            <a:pPr lvl="0"/>
            <a:r>
              <a:rPr lang="en-IN" dirty="0"/>
              <a:t>The framework identifies districts requiring targeted competency-based interventions based on learning patterns. </a:t>
            </a:r>
          </a:p>
          <a:p>
            <a:pPr defTabSz="457200">
              <a:lnSpc>
                <a:spcPct val="100000"/>
              </a:lnSpc>
            </a:pPr>
            <a:endParaRPr lang="en-IN" sz="20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0"/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• Metrics: </a:t>
            </a:r>
          </a:p>
          <a:p>
            <a:pPr lvl="0"/>
            <a:r>
              <a:rPr lang="en-IN" sz="2000" dirty="0"/>
              <a:t>Competency Accuracy: Measures average student performance in each mathematics competency. </a:t>
            </a:r>
          </a:p>
          <a:p>
            <a:pPr lvl="0"/>
            <a:r>
              <a:rPr lang="en-IN" sz="2000" dirty="0"/>
              <a:t>Severity Gap: Difference between the strongest and weakest competency within a district, indicating learning imbalance. </a:t>
            </a:r>
          </a:p>
          <a:p>
            <a:pPr lvl="0"/>
            <a:r>
              <a:rPr lang="en-IN" sz="2000" dirty="0"/>
              <a:t>Pearson Correlation: Measures the relationship between female literacy and learning performance. </a:t>
            </a:r>
          </a:p>
          <a:p>
            <a:pPr defTabSz="457200">
              <a:lnSpc>
                <a:spcPct val="100000"/>
              </a:lnSpc>
            </a:pPr>
            <a:endParaRPr lang="en-IN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0"/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• Important predictors: </a:t>
            </a:r>
          </a:p>
          <a:p>
            <a:pPr lvl="0"/>
            <a:r>
              <a:rPr lang="en-IN" sz="2000" dirty="0"/>
              <a:t>Female literacy rate </a:t>
            </a:r>
          </a:p>
          <a:p>
            <a:pPr lvl="0"/>
            <a:r>
              <a:rPr lang="en-IN" sz="2000" dirty="0"/>
              <a:t>Competency accuracy </a:t>
            </a:r>
          </a:p>
          <a:p>
            <a:pPr lvl="0"/>
            <a:r>
              <a:rPr lang="en-IN" sz="2000" dirty="0"/>
              <a:t>District-level Severity Gap</a:t>
            </a:r>
          </a:p>
          <a:p>
            <a:pPr defTabSz="457200">
              <a:lnSpc>
                <a:spcPct val="100000"/>
              </a:lnSpc>
            </a:pPr>
            <a:endParaRPr lang="en-IN" sz="20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0"/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• Early warning: </a:t>
            </a:r>
            <a:r>
              <a:rPr lang="en-IN" sz="2000" dirty="0"/>
              <a:t>Districts with </a:t>
            </a:r>
            <a:r>
              <a:rPr lang="en-IN" sz="2000" b="1" dirty="0"/>
              <a:t>high Severity Gaps despite relatively good female literacy</a:t>
            </a:r>
            <a:r>
              <a:rPr lang="en-IN" sz="2000" dirty="0"/>
              <a:t> are flagged for targeted instructional support. </a:t>
            </a:r>
          </a:p>
          <a:p>
            <a:pPr lvl="0"/>
            <a:r>
              <a:rPr lang="en-IN" sz="2000" dirty="0"/>
              <a:t>These districts are likely facing </a:t>
            </a:r>
            <a:r>
              <a:rPr lang="en-IN" sz="2000" b="1" dirty="0"/>
              <a:t>instructional or competency-specific challenges</a:t>
            </a:r>
            <a:r>
              <a:rPr lang="en-IN" sz="2000" dirty="0"/>
              <a:t> rather than only socio-economic disadvantage.</a:t>
            </a:r>
          </a:p>
          <a:p>
            <a:pPr defTabSz="457200">
              <a:lnSpc>
                <a:spcPct val="100000"/>
              </a:lnSpc>
            </a:pPr>
            <a:endParaRPr lang="en-IN" sz="20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EvalFooter"/>
          <p:cNvSpPr txBox="1"/>
          <p:nvPr/>
        </p:nvSpPr>
        <p:spPr>
          <a:xfrm>
            <a:off x="457200" y="6596604"/>
            <a:ext cx="8229600" cy="24622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/>
            </a:pPr>
            <a:r>
              <a:rPr lang="en-US" sz="1000" dirty="0"/>
              <a:t>Evaluation: Depth of analysis | Policy relevance | Cross-dataset analysis | Innovation | Clarity of insights | Visualisation &amp;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828800" y="2260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Visualization / Dashboard</a:t>
            </a:r>
            <a:br>
              <a:rPr sz="4400"/>
            </a:b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457200" y="274320"/>
            <a:ext cx="184320" cy="52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en-US" sz="28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EvalFooter"/>
          <p:cNvSpPr txBox="1"/>
          <p:nvPr/>
        </p:nvSpPr>
        <p:spPr>
          <a:xfrm>
            <a:off x="457200" y="6217920"/>
            <a:ext cx="8229600" cy="24622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/>
            </a:pPr>
            <a:r>
              <a:rPr lang="en-US" sz="1000" dirty="0"/>
              <a:t>Evaluation: Depth of analysis | Policy relevance | Cross-dataset analysis | Innovation | Clarity of insights | Visualisation &amp; presentation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E466BEB-F09E-90D9-1C97-0963E0957E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31078"/>
            <a:ext cx="5921829" cy="57008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7C1DF2D-0977-6977-EFBC-CF23AF977A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31078"/>
            <a:ext cx="5311600" cy="26160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EF945D6-4119-F32C-8DF2-044BAB9D3A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687861"/>
            <a:ext cx="5311600" cy="25300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828800" y="3088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Recommendations and Road Map</a:t>
            </a:r>
            <a:br>
              <a:rPr sz="4400"/>
            </a:b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457200" y="274320"/>
            <a:ext cx="184320" cy="52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en-US" sz="28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Box 4"/>
          <p:cNvSpPr/>
          <p:nvPr/>
        </p:nvSpPr>
        <p:spPr>
          <a:xfrm>
            <a:off x="731521" y="1097280"/>
            <a:ext cx="11094720" cy="532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lvl="0"/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• </a:t>
            </a: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Priority actions: </a:t>
            </a:r>
            <a:r>
              <a:rPr lang="en-IN" sz="2000" dirty="0"/>
              <a:t>Strengthen Measurement, Division, and Place Value through competency-specific teacher training, as these are the weakest statewide competencies. </a:t>
            </a:r>
          </a:p>
          <a:p>
            <a:pPr lvl="0"/>
            <a:r>
              <a:rPr lang="en-IN" sz="2000" dirty="0"/>
              <a:t>Prioritize high Severity Gap districts (e.g., Kodagu, </a:t>
            </a:r>
            <a:r>
              <a:rPr lang="en-IN" sz="2000" dirty="0" err="1"/>
              <a:t>Mandya</a:t>
            </a:r>
            <a:r>
              <a:rPr lang="en-IN" sz="2000" dirty="0"/>
              <a:t>, </a:t>
            </a:r>
            <a:r>
              <a:rPr lang="en-IN" sz="2000" dirty="0" err="1"/>
              <a:t>Chamarajanagara</a:t>
            </a:r>
            <a:r>
              <a:rPr lang="en-IN" sz="2000" dirty="0"/>
              <a:t>, Raichur, and </a:t>
            </a:r>
            <a:r>
              <a:rPr lang="en-IN" sz="2000" dirty="0" err="1"/>
              <a:t>Chitradurga</a:t>
            </a:r>
            <a:r>
              <a:rPr lang="en-IN" sz="2000" dirty="0"/>
              <a:t>) with targeted remedial learning programs. </a:t>
            </a:r>
          </a:p>
          <a:p>
            <a:pPr lvl="0"/>
            <a:r>
              <a:rPr lang="en-IN" sz="2000" dirty="0"/>
              <a:t>Provide broader academic support in districts where low learning outcomes coincide with lower female literacy. </a:t>
            </a:r>
          </a:p>
          <a:p>
            <a:pPr defTabSz="457200">
              <a:lnSpc>
                <a:spcPct val="100000"/>
              </a:lnSpc>
            </a:pPr>
            <a:r>
              <a:rPr lang="en-US" sz="200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en-IN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0"/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• Impact: </a:t>
            </a:r>
            <a:r>
              <a:rPr lang="en-IN" sz="2000" dirty="0"/>
              <a:t>Improves student learning by addressing district-specific competency gaps rather than general mathematics performance. </a:t>
            </a:r>
          </a:p>
          <a:p>
            <a:pPr lvl="0"/>
            <a:r>
              <a:rPr lang="en-IN" sz="2000" dirty="0"/>
              <a:t>Enables evidence-based resource allocation for teachers, schools, and remedial programs. </a:t>
            </a:r>
          </a:p>
          <a:p>
            <a:pPr lvl="0"/>
            <a:r>
              <a:rPr lang="en-IN" sz="2000" dirty="0"/>
              <a:t>Supports policymakers in prioritizing districts with the greatest learning imbalance. </a:t>
            </a:r>
          </a:p>
          <a:p>
            <a:pPr defTabSz="457200">
              <a:lnSpc>
                <a:spcPct val="100000"/>
              </a:lnSpc>
            </a:pPr>
            <a:endParaRPr lang="en-IN" sz="20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0"/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• Feasibility: </a:t>
            </a:r>
            <a:r>
              <a:rPr lang="en-IN" sz="2000" dirty="0"/>
              <a:t>Uses existing GKA/Akshara assessment data and NFHS-5 socio-economic indicators. </a:t>
            </a:r>
          </a:p>
          <a:p>
            <a:pPr lvl="0"/>
            <a:r>
              <a:rPr lang="en-IN" sz="2000" dirty="0"/>
              <a:t>Requires no additional data collection, making the framework cost-effective. </a:t>
            </a:r>
          </a:p>
          <a:p>
            <a:pPr lvl="0"/>
            <a:r>
              <a:rPr lang="en-IN" sz="2000" dirty="0"/>
              <a:t>Can be integrated into existing teacher training and remedial education programs and scaled to future assessment cycles.</a:t>
            </a:r>
          </a:p>
          <a:p>
            <a:pPr defTabSz="457200">
              <a:lnSpc>
                <a:spcPct val="100000"/>
              </a:lnSpc>
            </a:pPr>
            <a:endParaRPr lang="en-IN" sz="20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EvalFooter"/>
          <p:cNvSpPr txBox="1"/>
          <p:nvPr/>
        </p:nvSpPr>
        <p:spPr>
          <a:xfrm>
            <a:off x="457200" y="6217920"/>
            <a:ext cx="8229600" cy="24622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/>
            </a:pPr>
            <a:r>
              <a:rPr lang="en-US" sz="1000" dirty="0"/>
              <a:t>Evaluation: Depth of analysis | Policy relevance | Cross-dataset analysis | Innovation | Clarity of insights | Visualisation &amp; presentation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828800" y="2260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Innovation &amp; Impact</a:t>
            </a:r>
            <a:br>
              <a:rPr sz="4400"/>
            </a:b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4"/>
          <p:cNvSpPr/>
          <p:nvPr/>
        </p:nvSpPr>
        <p:spPr>
          <a:xfrm>
            <a:off x="731521" y="1097280"/>
            <a:ext cx="1106424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lvl="0"/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• </a:t>
            </a: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Novelty: </a:t>
            </a:r>
            <a:r>
              <a:rPr lang="en-IN" sz="2000" dirty="0"/>
              <a:t>Introduces the Severity Gap metric to distinguish overall low performance from competency-specific learning imbalances. </a:t>
            </a:r>
          </a:p>
          <a:p>
            <a:pPr lvl="0"/>
            <a:r>
              <a:rPr lang="en-IN" sz="2000" dirty="0"/>
              <a:t>Integrates learning assessment data with female literacy to support evidence-based intervention planning.</a:t>
            </a:r>
          </a:p>
          <a:p>
            <a:pPr defTabSz="457200">
              <a:lnSpc>
                <a:spcPct val="100000"/>
              </a:lnSpc>
            </a:pPr>
            <a:endParaRPr lang="en-IN" sz="20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0"/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• Scalability</a:t>
            </a:r>
            <a:r>
              <a:rPr lang="en-US" sz="2000" b="1" dirty="0">
                <a:solidFill>
                  <a:schemeClr val="dk1"/>
                </a:solidFill>
                <a:latin typeface="Calibri"/>
              </a:rPr>
              <a:t>: </a:t>
            </a:r>
            <a:r>
              <a:rPr lang="en-IN" sz="2000" dirty="0"/>
              <a:t>The framework can be applied across all Karnataka districts and future assessment years. </a:t>
            </a:r>
          </a:p>
          <a:p>
            <a:pPr lvl="0"/>
            <a:r>
              <a:rPr lang="en-IN" sz="2000" dirty="0"/>
              <a:t>Can be adapted to other states or subjects by updating the competency mapping and assessment data.</a:t>
            </a:r>
          </a:p>
          <a:p>
            <a:pPr lvl="0"/>
            <a:r>
              <a:rPr lang="en-IN" sz="2000" dirty="0"/>
              <a:t> </a:t>
            </a:r>
          </a:p>
          <a:p>
            <a:pPr lvl="0"/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• Limitations: </a:t>
            </a:r>
            <a:r>
              <a:rPr lang="en-IN" sz="2000" dirty="0"/>
              <a:t>Analysis is based on a single assessment year (2022–23). </a:t>
            </a:r>
          </a:p>
          <a:p>
            <a:pPr lvl="0"/>
            <a:r>
              <a:rPr lang="en-IN" sz="2000" dirty="0"/>
              <a:t>Correlation identifies associations, not causation. </a:t>
            </a:r>
          </a:p>
          <a:p>
            <a:pPr lvl="0"/>
            <a:r>
              <a:rPr lang="en-IN" sz="2000" dirty="0"/>
              <a:t>Uses a limited socio-economic indicator (female literacy); additional factors such as teacher availability and school infrastructure were not included. </a:t>
            </a:r>
          </a:p>
          <a:p>
            <a:pPr defTabSz="457200">
              <a:lnSpc>
                <a:spcPct val="100000"/>
              </a:lnSpc>
            </a:pPr>
            <a:endParaRPr lang="en-IN" sz="20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0"/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• Expected impact: </a:t>
            </a:r>
            <a:r>
              <a:rPr lang="en-IN" sz="2000" dirty="0"/>
              <a:t>Enables district-specific, competency-focused interventions instead of blanket improvement programs. </a:t>
            </a:r>
          </a:p>
          <a:p>
            <a:pPr lvl="0"/>
            <a:r>
              <a:rPr lang="en-IN" sz="2000" dirty="0"/>
              <a:t>Supports better resource allocation, teacher training, and remedial planning. </a:t>
            </a:r>
          </a:p>
          <a:p>
            <a:pPr lvl="0"/>
            <a:r>
              <a:rPr lang="en-IN" sz="2000" dirty="0"/>
              <a:t>Promotes data-driven decision-making to strengthen foundational mathematics learning.</a:t>
            </a:r>
          </a:p>
          <a:p>
            <a:pPr defTabSz="457200">
              <a:lnSpc>
                <a:spcPct val="100000"/>
              </a:lnSpc>
            </a:pPr>
            <a:endParaRPr lang="en-IN" sz="20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EvalFooter"/>
          <p:cNvSpPr txBox="1"/>
          <p:nvPr/>
        </p:nvSpPr>
        <p:spPr>
          <a:xfrm>
            <a:off x="731521" y="6481916"/>
            <a:ext cx="8229600" cy="24622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/>
            </a:pPr>
            <a:r>
              <a:rPr lang="en-US" sz="1000" dirty="0"/>
              <a:t>Evaluation: Depth of analysis | Policy relevance | Cross-dataset analysis | Innovation | Clarity of insights | Visualisation &amp; presentation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828800" y="2260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Conclusion &amp; Key Takeaways</a:t>
            </a:r>
            <a:br>
              <a:rPr sz="4400" dirty="0"/>
            </a:br>
            <a:endParaRPr lang="en-US" sz="4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4"/>
          <p:cNvSpPr/>
          <p:nvPr/>
        </p:nvSpPr>
        <p:spPr>
          <a:xfrm>
            <a:off x="731520" y="1097280"/>
            <a:ext cx="11109960" cy="50153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lvl="0"/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• </a:t>
            </a: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Top takeaways: </a:t>
            </a:r>
            <a:r>
              <a:rPr lang="en-IN" sz="2000" dirty="0"/>
              <a:t>Measurement, Division, and Place Value are the lowest-performing mathematics competency groups across Karnataka. </a:t>
            </a:r>
          </a:p>
          <a:p>
            <a:pPr lvl="0"/>
            <a:r>
              <a:rPr lang="en-IN" sz="2000" dirty="0"/>
              <a:t>The Severity Gap reveals that learning imbalances vary across districts, highlighting the need for district-specific interventions. </a:t>
            </a:r>
          </a:p>
          <a:p>
            <a:pPr lvl="0"/>
            <a:r>
              <a:rPr lang="en-IN" sz="2000" dirty="0"/>
              <a:t>Female literacy explains part of the variation in learning outcomes, but competency imbalances also indicate instructional challenges, making targeted interventions more effective than one-size-fits-all programs.</a:t>
            </a:r>
          </a:p>
          <a:p>
            <a:pPr defTabSz="457200">
              <a:lnSpc>
                <a:spcPct val="100000"/>
              </a:lnSpc>
            </a:pPr>
            <a:endParaRPr lang="en-IN" sz="20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0"/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• Next steps: </a:t>
            </a:r>
            <a:r>
              <a:rPr lang="en-IN" sz="2000" dirty="0"/>
              <a:t>Extend the analysis to future assessment years to monitor learning trends over time. </a:t>
            </a:r>
          </a:p>
          <a:p>
            <a:pPr lvl="0"/>
            <a:r>
              <a:rPr lang="en-IN" sz="2000" dirty="0"/>
              <a:t>Incorporate additional datasets such as UDISE+ teacher availability, school infrastructure, and student attendance for deeper analysis. </a:t>
            </a:r>
          </a:p>
          <a:p>
            <a:pPr lvl="0"/>
            <a:r>
              <a:rPr lang="en-IN" sz="2000" dirty="0"/>
              <a:t>Develop an interactive dashboard to help policymakers monitor district performance and intervention outcomes. </a:t>
            </a:r>
          </a:p>
          <a:p>
            <a:pPr lvl="0"/>
            <a:endParaRPr lang="en-IN" sz="2000" b="1" dirty="0"/>
          </a:p>
          <a:p>
            <a:pPr defTabSz="457200">
              <a:lnSpc>
                <a:spcPct val="100000"/>
              </a:lnSpc>
            </a:pPr>
            <a:endParaRPr lang="en-IN" sz="20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• Thank you</a:t>
            </a:r>
            <a:endParaRPr lang="en-IN" sz="20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EvalFooter"/>
          <p:cNvSpPr txBox="1"/>
          <p:nvPr/>
        </p:nvSpPr>
        <p:spPr>
          <a:xfrm>
            <a:off x="457200" y="6217920"/>
            <a:ext cx="8229600" cy="24622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/>
            </a:pPr>
            <a:r>
              <a:rPr lang="en-US" sz="1000" dirty="0"/>
              <a:t>Evaluation: Depth of analysis | Policy relevance | Cross-dataset analysis | Innovation | Clarity of insights | Visualisation &amp;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455</TotalTime>
  <Words>1657</Words>
  <Application>Microsoft Office PowerPoint</Application>
  <PresentationFormat>Widescreen</PresentationFormat>
  <Paragraphs>170</Paragraphs>
  <Slides>11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Team &amp; Solution Overview </vt:lpstr>
      <vt:lpstr>Problem Statement </vt:lpstr>
      <vt:lpstr>Dataset Understanding </vt:lpstr>
      <vt:lpstr>Analytical Approach </vt:lpstr>
      <vt:lpstr>Key Insight 1 </vt:lpstr>
      <vt:lpstr>Key Insight 2 </vt:lpstr>
      <vt:lpstr>Predictive / Diagnostic Analysis </vt:lpstr>
      <vt:lpstr>Visualization / Dashboard </vt:lpstr>
      <vt:lpstr>Recommendations and Road Map </vt:lpstr>
      <vt:lpstr>Innovation &amp; Impact </vt:lpstr>
      <vt:lpstr>Conclusion &amp; Key Takeaways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&amp; Solution Overview </dc:title>
  <dc:subject/>
  <dc:creator/>
  <dc:description>generated using python-pptx</dc:description>
  <cp:lastModifiedBy>Pallavi V</cp:lastModifiedBy>
  <cp:revision>9</cp:revision>
  <dcterms:created xsi:type="dcterms:W3CDTF">2013-01-27T09:14:16Z</dcterms:created>
  <dcterms:modified xsi:type="dcterms:W3CDTF">2026-08-01T12:58:24Z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12</vt:i4>
  </property>
</Properties>
</file>